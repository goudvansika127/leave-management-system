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32520" y="0"/>
            <a:ext cx="3474720" cy="6858000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0" y="1371600"/>
            <a:ext cx="2331720" cy="749808"/>
          </a:xfrm>
          <a:prstGeom prst="roundRect">
            <a:avLst/>
          </a:prstGeom>
          <a:solidFill>
            <a:srgbClr val="1C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81160" y="153619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121408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606040"/>
            <a:ext cx="2331720" cy="749808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81160" y="277063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3355848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3840480"/>
            <a:ext cx="2331720" cy="749808"/>
          </a:xfrm>
          <a:prstGeom prst="roundRect">
            <a:avLst/>
          </a:prstGeom>
          <a:solidFill>
            <a:srgbClr val="2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81160" y="400507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731520"/>
            <a:ext cx="7498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CA69B"/>
                </a:solidFill>
                <a:latin typeface="Aptos"/>
              </a:rPr>
              <a:t>BWT HACKATHON  |  10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17320"/>
            <a:ext cx="758952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LEAVE MANAGEMENT</a:t>
            </a:r>
          </a:p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72237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DCE6F3"/>
                </a:solidFill>
                <a:latin typeface="Aptos"/>
              </a:rPr>
              <a:t>A web application for employee leave requests and manager approvals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43400"/>
            <a:ext cx="7223760" cy="27432"/>
          </a:xfrm>
          <a:prstGeom prst="rect">
            <a:avLst/>
          </a:prstGeom>
          <a:solidFill>
            <a:srgbClr val="1C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4B740"/>
                </a:solidFill>
                <a:latin typeface="Aptos"/>
              </a:rPr>
              <a:t>TEAM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594360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B. Ankitha  (25MVCSDR0095)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B. Hasini  (25MVCSDR0096)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B. Prathap  (25MVCSD0097)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B. Vansika  (25MVCSDR0098)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989320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686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1CA69B"/>
                </a:solidFill>
                <a:latin typeface="Aptos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686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E6D80"/>
                </a:solidFill>
                <a:latin typeface="Aptos"/>
              </a:rPr>
              <a:t>LEAVE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 i="0">
                <a:solidFill>
                  <a:srgbClr val="2A63B0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0972800" cy="2286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22440"/>
                </a:solidFill>
                <a:latin typeface="Aptos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E6D80"/>
                </a:solidFill>
                <a:latin typeface="Aptos"/>
              </a:rPr>
              <a:t>What the project does and why it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5212080" cy="333756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A63B0"/>
                </a:solidFill>
                <a:latin typeface="Aptos"/>
              </a:rPr>
              <a:t>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448056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 i="0">
                <a:solidFill>
                  <a:srgbClr val="122440"/>
                </a:solidFill>
                <a:latin typeface="Aptos"/>
              </a:rPr>
              <a:t>A web application that lets employees submit leave requests and helps managers review, approve, or reject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26280"/>
            <a:ext cx="44805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E6D80"/>
                </a:solidFill>
                <a:latin typeface="Aptos"/>
              </a:rPr>
              <a:t>It keeps the request process in one place and makes the status easier to track.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CA69B"/>
                </a:solidFill>
                <a:latin typeface="Aptos"/>
              </a:rP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4754880" cy="2468880"/>
          </a:xfrm>
          <a:prstGeom prst="rect">
            <a:avLst/>
          </a:prstGeom>
          <a:noFill/>
        </p:spPr>
        <p:txBody>
          <a:bodyPr wrap="square" lIns="54864" tIns="27432" rIns="36576" bIns="27432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A3441"/>
                </a:solidFill>
                <a:latin typeface="Aptos"/>
              </a:rPr>
              <a:t>•  Make leave applications simple and quick.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A3441"/>
                </a:solidFill>
                <a:latin typeface="Aptos"/>
              </a:rPr>
              <a:t>•  Give managers one place to review requests.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A3441"/>
                </a:solidFill>
                <a:latin typeface="Aptos"/>
              </a:rPr>
              <a:t>•  Track Pending, Approved and Rejected status.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A3441"/>
                </a:solidFill>
                <a:latin typeface="Aptos"/>
              </a:rPr>
              <a:t>•  Maintain a searchable leave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BWT HACKATHON  •  TEAM PROJECT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686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1CA69B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686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E6D80"/>
                </a:solidFill>
                <a:latin typeface="Aptos"/>
              </a:rPr>
              <a:t>LEAVE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 i="0">
                <a:solidFill>
                  <a:srgbClr val="2A63B0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0972800" cy="2286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22440"/>
                </a:solidFill>
                <a:latin typeface="Apto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E6D80"/>
                </a:solidFill>
                <a:latin typeface="Aptos"/>
              </a:rPr>
              <a:t>Limitations of the current manual 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3429000" cy="214884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3429000" cy="109728"/>
          </a:xfrm>
          <a:prstGeom prst="rect">
            <a:avLst/>
          </a:prstGeom>
          <a:solidFill>
            <a:srgbClr val="CB4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CB4C52"/>
                </a:solidFill>
                <a:latin typeface="Aptos"/>
              </a:rPr>
              <a:t>DELAYED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29260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22440"/>
                </a:solidFill>
                <a:latin typeface="Aptos"/>
              </a:rPr>
              <a:t>Paper forms and email conversations can slow down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331720"/>
            <a:ext cx="3429000" cy="214884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2331720"/>
            <a:ext cx="3429000" cy="109728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269748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4B740"/>
                </a:solidFill>
                <a:latin typeface="Aptos"/>
              </a:rPr>
              <a:t>MISSING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00400"/>
            <a:ext cx="29260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22440"/>
                </a:solidFill>
                <a:latin typeface="Aptos"/>
              </a:rPr>
              <a:t>Requests may be difficult to locate or track later.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331720"/>
            <a:ext cx="3429000" cy="214884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2331720"/>
            <a:ext cx="3429000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69748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A63B0"/>
                </a:solidFill>
                <a:latin typeface="Aptos"/>
              </a:rPr>
              <a:t>UNCLEAR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200400"/>
            <a:ext cx="29260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22440"/>
                </a:solidFill>
                <a:latin typeface="Aptos"/>
              </a:rPr>
              <a:t>Employees may not know whether a request is pending or decided.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892040"/>
            <a:ext cx="10195560" cy="731520"/>
          </a:xfrm>
          <a:prstGeom prst="round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5047488"/>
            <a:ext cx="3291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CA69B"/>
                </a:solidFill>
                <a:latin typeface="Aptos"/>
              </a:rPr>
              <a:t>NEED FOR THE PROPOSED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010912"/>
            <a:ext cx="6309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A central system for submitting requests, reviewing them and recording decisions.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BWT HACKATHON  •  TEAM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686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1CA69B"/>
                </a:solidFill>
                <a:latin typeface="Aptos"/>
              </a:rP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686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E6D80"/>
                </a:solidFill>
                <a:latin typeface="Aptos"/>
              </a:rPr>
              <a:t>LEAVE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 i="0">
                <a:solidFill>
                  <a:srgbClr val="2A63B0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0972800" cy="2286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22440"/>
                </a:solidFill>
                <a:latin typeface="Aptos"/>
              </a:rPr>
              <a:t>Proposed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E6D80"/>
                </a:solidFill>
                <a:latin typeface="Aptos"/>
              </a:rPr>
              <a:t>One workflow for employees and managers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120640" cy="338328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A63B0"/>
                </a:solidFill>
                <a:latin typeface="Aptos"/>
              </a:rPr>
              <a:t>EMPLOYEE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4389120" cy="2194560"/>
          </a:xfrm>
          <a:prstGeom prst="rect">
            <a:avLst/>
          </a:prstGeom>
          <a:noFill/>
        </p:spPr>
        <p:txBody>
          <a:bodyPr wrap="square" lIns="54864" tIns="27432" rIns="36576" bIns="27432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A3441"/>
                </a:solidFill>
                <a:latin typeface="Aptos"/>
              </a:rPr>
              <a:t>•  Register / log in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A3441"/>
                </a:solidFill>
                <a:latin typeface="Aptos"/>
              </a:rPr>
              <a:t>•  Apply for leave with dates and reason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A3441"/>
                </a:solidFill>
                <a:latin typeface="Aptos"/>
              </a:rPr>
              <a:t>•  View request status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A3441"/>
                </a:solidFill>
                <a:latin typeface="Aptos"/>
              </a:rPr>
              <a:t>•  Check leave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40280"/>
            <a:ext cx="5120640" cy="338328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CA69B"/>
                </a:solidFill>
                <a:latin typeface="Aptos"/>
              </a:rPr>
              <a:t>MANAGER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4389120" cy="2194560"/>
          </a:xfrm>
          <a:prstGeom prst="rect">
            <a:avLst/>
          </a:prstGeom>
          <a:noFill/>
        </p:spPr>
        <p:txBody>
          <a:bodyPr wrap="square" lIns="54864" tIns="27432" rIns="36576" bIns="27432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A3441"/>
                </a:solidFill>
                <a:latin typeface="Aptos"/>
              </a:rPr>
              <a:t>•  Review pending requests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A3441"/>
                </a:solidFill>
                <a:latin typeface="Aptos"/>
              </a:rPr>
              <a:t>•  Approve a request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A3441"/>
                </a:solidFill>
                <a:latin typeface="Aptos"/>
              </a:rPr>
              <a:t>•  Reject with a reason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A3441"/>
                </a:solidFill>
                <a:latin typeface="Aptos"/>
              </a:rPr>
              <a:t>•  Track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E6D80"/>
                </a:solidFill>
                <a:latin typeface="Aptos"/>
              </a:rPr>
              <a:t>ADVANTAGES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751576"/>
            <a:ext cx="79552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2440"/>
                </a:solidFill>
                <a:latin typeface="Aptos"/>
              </a:rPr>
              <a:t>Faster tracking  •  Clear status  •  Centralized leave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BWT HACKATHON  •  TEAM 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686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1CA69B"/>
                </a:solidFill>
                <a:latin typeface="Aptos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686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E6D80"/>
                </a:solidFill>
                <a:latin typeface="Aptos"/>
              </a:rPr>
              <a:t>LEAVE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 i="0">
                <a:solidFill>
                  <a:srgbClr val="2A63B0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0972800" cy="2286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22440"/>
                </a:solidFill>
                <a:latin typeface="Aptos"/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E6D80"/>
                </a:solidFill>
                <a:latin typeface="Aptos"/>
              </a:rPr>
              <a:t>Tools and technologies used in the sample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5166360" cy="128016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137160" cy="1280160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450592"/>
            <a:ext cx="4389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A63B0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24912"/>
            <a:ext cx="4480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22440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4480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E6D80"/>
                </a:solidFill>
                <a:latin typeface="Aptos"/>
              </a:rPr>
              <a:t>Forms and request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5166360" cy="128016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137160" cy="1280160"/>
          </a:xfrm>
          <a:prstGeom prst="rect">
            <a:avLst/>
          </a:prstGeom>
          <a:solidFill>
            <a:srgbClr val="1C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2450592"/>
            <a:ext cx="4389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CA69B"/>
                </a:solidFill>
                <a:latin typeface="Aptos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724912"/>
            <a:ext cx="4480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22440"/>
                </a:solidFill>
                <a:latin typeface="Aptos"/>
              </a:rPr>
              <a:t>Node.js • Express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154680"/>
            <a:ext cx="4480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E6D80"/>
                </a:solidFill>
                <a:latin typeface="Aptos"/>
              </a:rPr>
              <a:t>API routes and business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86200"/>
            <a:ext cx="5166360" cy="128016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886200"/>
            <a:ext cx="137160" cy="1280160"/>
          </a:xfrm>
          <a:prstGeom prst="rect">
            <a:avLst/>
          </a:prstGeom>
          <a:solidFill>
            <a:srgbClr val="2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050791"/>
            <a:ext cx="4389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59669"/>
                </a:solidFill>
                <a:latin typeface="Aptos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25112"/>
            <a:ext cx="4480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22440"/>
                </a:solidFill>
                <a:latin typeface="Aptos"/>
              </a:rPr>
              <a:t>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80"/>
            <a:ext cx="4480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E6D80"/>
                </a:solidFill>
                <a:latin typeface="Aptos"/>
              </a:rPr>
              <a:t>Stores leave request records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886200"/>
            <a:ext cx="5166360" cy="128016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3886200"/>
            <a:ext cx="137160" cy="128016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4050791"/>
            <a:ext cx="4389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4B740"/>
                </a:solidFill>
                <a:latin typeface="Aptos"/>
              </a:rPr>
              <a:t>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325112"/>
            <a:ext cx="4480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22440"/>
                </a:solidFill>
                <a:latin typeface="Aptos"/>
              </a:rPr>
              <a:t>Mongoose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754880"/>
            <a:ext cx="4480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E6D80"/>
                </a:solidFill>
                <a:latin typeface="Aptos"/>
              </a:rPr>
              <a:t>Connects Node.js to MongoDB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715000"/>
            <a:ext cx="10469880" cy="457200"/>
          </a:xfrm>
          <a:prstGeom prst="round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806440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Development environment: project folder + terminal; run the server with  node app.js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BWT HACKATHON  •  TEAM PROJECT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686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1CA69B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686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E6D80"/>
                </a:solidFill>
                <a:latin typeface="Aptos"/>
              </a:rPr>
              <a:t>LEAVE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 i="0">
                <a:solidFill>
                  <a:srgbClr val="2A63B0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0972800" cy="2286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22440"/>
                </a:solidFill>
                <a:latin typeface="Aptos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E6D80"/>
                </a:solidFill>
                <a:latin typeface="Aptos"/>
              </a:rPr>
              <a:t>How the main components communicate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2011680" cy="141732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2011680" cy="128016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999232"/>
            <a:ext cx="1783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2A63B0"/>
                </a:solidFill>
                <a:latin typeface="Aptos"/>
              </a:rPr>
              <a:t>EMPLOYEE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83280"/>
            <a:ext cx="17830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22440"/>
                </a:solidFill>
                <a:latin typeface="Aptos"/>
              </a:rPr>
              <a:t>Browser</a:t>
            </a:r>
          </a:p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22440"/>
                </a:solidFill>
                <a:latin typeface="Aptos"/>
              </a:rPr>
              <a:t>Leave 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743200"/>
            <a:ext cx="2011680" cy="141732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0" y="2743200"/>
            <a:ext cx="2011680" cy="128016"/>
          </a:xfrm>
          <a:prstGeom prst="rect">
            <a:avLst/>
          </a:prstGeom>
          <a:solidFill>
            <a:srgbClr val="1C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67328" y="2999232"/>
            <a:ext cx="1783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CA69B"/>
                </a:solidFill>
                <a:latin typeface="Aptos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383280"/>
            <a:ext cx="17830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22440"/>
                </a:solidFill>
                <a:latin typeface="Aptos"/>
              </a:rPr>
              <a:t>HTML • CSS</a:t>
            </a:r>
          </a:p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22440"/>
                </a:solidFill>
                <a:latin typeface="Aptos"/>
              </a:rPr>
              <a:t>JavaScript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743200"/>
            <a:ext cx="2011680" cy="141732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2743200"/>
            <a:ext cx="2011680" cy="128016"/>
          </a:xfrm>
          <a:prstGeom prst="rect">
            <a:avLst/>
          </a:prstGeom>
          <a:solidFill>
            <a:srgbClr val="2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2999232"/>
            <a:ext cx="1783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259669"/>
                </a:solidFill>
                <a:latin typeface="Aptos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383280"/>
            <a:ext cx="17830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22440"/>
                </a:solidFill>
                <a:latin typeface="Aptos"/>
              </a:rPr>
              <a:t>Node.js</a:t>
            </a:r>
          </a:p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22440"/>
                </a:solidFill>
                <a:latin typeface="Aptos"/>
              </a:rPr>
              <a:t>Express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743200"/>
            <a:ext cx="2011680" cy="141732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326880" y="2743200"/>
            <a:ext cx="2011680" cy="128016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36607" y="2999232"/>
            <a:ext cx="1783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4B740"/>
                </a:solidFill>
                <a:latin typeface="Aptos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7" y="3383280"/>
            <a:ext cx="17830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22440"/>
                </a:solidFill>
                <a:latin typeface="Aptos"/>
              </a:rPr>
              <a:t>MongoDB</a:t>
            </a:r>
          </a:p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22440"/>
                </a:solidFill>
                <a:latin typeface="Aptos"/>
              </a:rPr>
              <a:t>Leave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182112"/>
            <a:ext cx="594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500" b="1" i="0">
                <a:solidFill>
                  <a:srgbClr val="5E6D80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3182112"/>
            <a:ext cx="594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500" b="1" i="0">
                <a:solidFill>
                  <a:srgbClr val="5E6D80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182112"/>
            <a:ext cx="594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500" b="1" i="0">
                <a:solidFill>
                  <a:srgbClr val="5E6D80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0916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A63B0"/>
                </a:solidFill>
                <a:latin typeface="Aptos"/>
              </a:rPr>
              <a:t>Employee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47488"/>
            <a:ext cx="4206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A3441"/>
                </a:solidFill>
                <a:latin typeface="Aptos"/>
              </a:rPr>
              <a:t>Creates a request with name, start date, end date and reason.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70916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CA69B"/>
                </a:solidFill>
                <a:latin typeface="Aptos"/>
              </a:rPr>
              <a:t>Manager module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047488"/>
            <a:ext cx="4389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A3441"/>
                </a:solidFill>
                <a:latin typeface="Aptos"/>
              </a:rPr>
              <a:t>Fetches pending requests and saves approval or rejection.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BWT HACKATHON  •  TEAM PROJECT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686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1CA69B"/>
                </a:solidFill>
                <a:latin typeface="Aptos"/>
              </a:rPr>
              <a:t>METHODOLOGY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686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E6D80"/>
                </a:solidFill>
                <a:latin typeface="Aptos"/>
              </a:rPr>
              <a:t>LEAVE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 i="0">
                <a:solidFill>
                  <a:srgbClr val="2A63B0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0972800" cy="2286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22440"/>
                </a:solidFill>
                <a:latin typeface="Aptos"/>
              </a:rPr>
              <a:t>Methodology /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E6D80"/>
                </a:solidFill>
                <a:latin typeface="Aptos"/>
              </a:rPr>
              <a:t>From employee input to manager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2514600" cy="196596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6112" y="2697480"/>
            <a:ext cx="502920" cy="502920"/>
          </a:xfrm>
          <a:prstGeom prst="round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A63B0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21488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22440"/>
                </a:solidFill>
                <a:latin typeface="Aptos"/>
              </a:rPr>
              <a:t>Employee enters leave dates and reason.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3246120"/>
            <a:ext cx="3657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 i="0">
                <a:solidFill>
                  <a:srgbClr val="5E6D8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2514600"/>
            <a:ext cx="2514600" cy="196596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76472" y="2697480"/>
            <a:ext cx="502920" cy="502920"/>
          </a:xfrm>
          <a:prstGeom prst="roundRect">
            <a:avLst/>
          </a:prstGeom>
          <a:solidFill>
            <a:srgbClr val="1C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4760" y="28163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429000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CA69B"/>
                </a:solidFill>
                <a:latin typeface="Aptos"/>
              </a:rPr>
              <a:t>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794760"/>
            <a:ext cx="21488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22440"/>
                </a:solidFill>
                <a:latin typeface="Aptos"/>
              </a:rPr>
              <a:t>Backend checks dates and required fields.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3246120"/>
            <a:ext cx="3657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 i="0">
                <a:solidFill>
                  <a:srgbClr val="5E6D8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514600"/>
            <a:ext cx="2514600" cy="196596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56831" y="2697480"/>
            <a:ext cx="502920" cy="502920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28163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29000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4B740"/>
                </a:solidFill>
                <a:latin typeface="Aptos"/>
              </a:rPr>
              <a:t>CORE OPERATION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794760"/>
            <a:ext cx="21488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22440"/>
                </a:solidFill>
                <a:latin typeface="Aptos"/>
              </a:rPr>
              <a:t>Request is saved with Pending status.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3246120"/>
            <a:ext cx="3657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 i="0">
                <a:solidFill>
                  <a:srgbClr val="5E6D80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2514600"/>
            <a:ext cx="2514600" cy="196596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537192" y="2697480"/>
            <a:ext cx="502920" cy="502920"/>
          </a:xfrm>
          <a:prstGeom prst="roundRect">
            <a:avLst/>
          </a:prstGeom>
          <a:solidFill>
            <a:srgbClr val="2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55480" y="28163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429000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59669"/>
                </a:solidFill>
                <a:latin typeface="Aptos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3794760"/>
            <a:ext cx="21488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22440"/>
                </a:solidFill>
                <a:latin typeface="Aptos"/>
              </a:rPr>
              <a:t>Manager approves or rejects; status is updated.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074920"/>
            <a:ext cx="10287000" cy="658368"/>
          </a:xfrm>
          <a:prstGeom prst="round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" y="5257800"/>
            <a:ext cx="9829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PENDING  →  APPROVED / REJECTED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925312"/>
            <a:ext cx="10149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5E6D80"/>
                </a:solidFill>
                <a:latin typeface="Aptos"/>
              </a:rPr>
              <a:t>Validation: end date must be on or after start date; reason is required.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BWT HACKATHON  •  TEAM PROJECT 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686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1CA69B"/>
                </a:solidFill>
                <a:latin typeface="Aptos"/>
              </a:rPr>
              <a:t>RESULTS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686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E6D80"/>
                </a:solidFill>
                <a:latin typeface="Aptos"/>
              </a:rPr>
              <a:t>LEAVE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 i="0">
                <a:solidFill>
                  <a:srgbClr val="2A63B0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0972800" cy="2286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22440"/>
                </a:solidFill>
                <a:latin typeface="Aptos"/>
              </a:rPr>
              <a:t>Sample Outputs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E6D80"/>
                </a:solidFill>
                <a:latin typeface="Aptos"/>
              </a:rPr>
              <a:t>Illustrative outcomes from the leave request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5166360" cy="324612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A63B0"/>
                </a:solidFill>
                <a:latin typeface="Aptos"/>
              </a:rPr>
              <a:t>SAMPLE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22440"/>
                </a:solidFill>
                <a:latin typeface="Aptos"/>
              </a:rPr>
              <a:t>Application submitted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4297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59669"/>
                </a:solidFill>
                <a:latin typeface="Aptos"/>
              </a:rPr>
              <a:t>HTTP 201 Created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59669"/>
                </a:solidFill>
                <a:latin typeface="Aptos"/>
              </a:rPr>
              <a:t>Status: 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22440"/>
                </a:solidFill>
                <a:latin typeface="Aptos"/>
              </a:rPr>
              <a:t>Manager decision saved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4297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59669"/>
                </a:solidFill>
                <a:latin typeface="Aptos"/>
              </a:rPr>
              <a:t>HTTP 200 OK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59669"/>
                </a:solidFill>
                <a:latin typeface="Aptos"/>
              </a:rPr>
              <a:t>Status: Approved or Rejected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94560"/>
            <a:ext cx="5120640" cy="324612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CA69B"/>
                </a:solidFill>
                <a:latin typeface="Aptos"/>
              </a:rPr>
              <a:t>BASIC TEST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60"/>
            <a:ext cx="4389120" cy="2194560"/>
          </a:xfrm>
          <a:prstGeom prst="rect">
            <a:avLst/>
          </a:prstGeom>
          <a:noFill/>
        </p:spPr>
        <p:txBody>
          <a:bodyPr wrap="square" lIns="54864" tIns="27432" rIns="36576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A3441"/>
                </a:solidFill>
                <a:latin typeface="Aptos"/>
              </a:rPr>
              <a:t>•  Valid dates → Pending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A3441"/>
                </a:solidFill>
                <a:latin typeface="Aptos"/>
              </a:rPr>
              <a:t>•  End date before start date → error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A3441"/>
                </a:solidFill>
                <a:latin typeface="Aptos"/>
              </a:rPr>
              <a:t>•  Manager approves / rejects → status changes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A3441"/>
                </a:solidFill>
                <a:latin typeface="Aptos"/>
              </a:rPr>
              <a:t>•  Unknown request ID → 404 Not Found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669280"/>
            <a:ext cx="10424160" cy="502920"/>
          </a:xfrm>
          <a:prstGeom prst="round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7972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Conclusion: a centralized workflow makes leave requests easier to manage and track.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BWT HACKATHON  •  TEAM PROJECT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E6D8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616</Words>
  <Application>Microsoft Office PowerPoint</Application>
  <PresentationFormat>Widescreen</PresentationFormat>
  <Paragraphs>154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hasini Baluri</dc:creator>
  <cp:keywords/>
  <dc:description>generated using python-pptx</dc:description>
  <cp:lastModifiedBy>hasini Baluri</cp:lastModifiedBy>
  <cp:revision>1</cp:revision>
  <dcterms:created xsi:type="dcterms:W3CDTF">2013-01-27T09:14:16Z</dcterms:created>
  <dcterms:modified xsi:type="dcterms:W3CDTF">2026-10-10T03:52:14Z</dcterms:modified>
  <cp:category/>
</cp:coreProperties>
</file>